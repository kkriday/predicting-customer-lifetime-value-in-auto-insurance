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58" r:id="rId5"/>
    <p:sldId id="261" r:id="rId6"/>
    <p:sldId id="262" r:id="rId7"/>
    <p:sldId id="263" r:id="rId8"/>
    <p:sldId id="273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87211"/>
  </p:normalViewPr>
  <p:slideViewPr>
    <p:cSldViewPr snapToGrid="0" snapToObjects="1">
      <p:cViewPr>
        <p:scale>
          <a:sx n="125" d="100"/>
          <a:sy n="125" d="100"/>
        </p:scale>
        <p:origin x="744" y="4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87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ran 5 models on an 80/20 split. The table shows the setup — Linear Regression is the baseline, Decision Tree and KNN are the simpler models, and Random Forest and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highlighted are the ones we expected to win and took forward for tuning. One technical point worth noting —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StandardScaler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fit on training data only, inside a Pipeline, so there's zero data leakage into the test set.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the three bar charts — RMSE, MAE, and R². Random Forest is the lightest bar on all three, meaning lowest error and highest accuracy. R² of 0.9113.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right behind at 0.9023. Now look at the other end — KNN is 0.22 and Linear Regression is 0.43. That's less than half the R² of Random Forest. That gap is the proof that CLV is non-linear — a straight line model simply cannot capture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ran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GridSearchCV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both top models. Random Forest tested 12 parameter combinations across 5 folds — 60 total fits. The winning config was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=None,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min_samples_split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=5,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is number of trees =200. CV R² on training was 0.8901, and on the unseen test set it held at 0.9112 — meaning the model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generalised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well, it didn't overfit.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got 0.9097 — close, but Random Forest wins on every metric so that's our final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64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that first bar — Number of Policies at 0.6786. That one feature alone is responsible for 68% of everything the model learned. The second bar, Monthly Premium Auto, is 0.2293. So just these two features together explain 91% of all predictive signal. Now look at positions 5 and 8 —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Premium_to_Income_Ratio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Claim_per_Policy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Those are two of our engineered features sitting in the top 8, which directly validates that the feature engineering step added real signal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scatter plot tells the story clearly. The dashed red line is perfect prediction. Everything in the bottom-left cluster — customers under $20,000 CLV — sits tight around that line, that's the 99% of your customer base. The points spreading away from the line at the top-right are the high-CLV outliers above $30,000 — the model underestimates them because there aren't enough of them in training data. R² on log scale is 0.91, but when you back-transform to actual dollars it drops to 0.68 — that drop is entirely caused by those few extreme outliers getting amplified."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left chart shows prediction accuracy by segment within a 20% error margin. Low CLV — 99.8%. Essentially perfect. Mid CLV — 92.4%. High CLV — 56.7%. Now look at the right chart showing the actual mean CLV values — Low is $3,139, Mid is $5,862, High is $14,600. The practical takeaway is this: for 92% of your customer base — the Low and Mid segments — the model is highly reliable. The High segment at 56.7% is still useful to identify who your premium customers are.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E1108"/>
          </a:solidFill>
          <a:ln w="12700">
            <a:solidFill>
              <a:srgbClr val="1E11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 ·  Auto Insurance  ·  IBM Watson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3200400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2651760" cy="2103120"/>
          </a:xfrm>
          <a:prstGeom prst="rect">
            <a:avLst/>
          </a:prstGeom>
          <a:solidFill>
            <a:srgbClr val="29190D"/>
          </a:solidFill>
          <a:ln w="12700">
            <a:solidFill>
              <a:srgbClr val="3A25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651760" cy="64008"/>
          </a:xfrm>
          <a:prstGeom prst="rect">
            <a:avLst/>
          </a:prstGeom>
          <a:solidFill>
            <a:srgbClr val="F5C49A"/>
          </a:solidFill>
          <a:ln w="12700">
            <a:solidFill>
              <a:srgbClr val="F5C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9,134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651760" cy="2103120"/>
          </a:xfrm>
          <a:prstGeom prst="rect">
            <a:avLst/>
          </a:prstGeom>
          <a:solidFill>
            <a:srgbClr val="29190D"/>
          </a:solidFill>
          <a:ln w="12700">
            <a:solidFill>
              <a:srgbClr val="3A25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2651760" cy="64008"/>
          </a:xfrm>
          <a:prstGeom prst="rect">
            <a:avLst/>
          </a:prstGeom>
          <a:solidFill>
            <a:srgbClr val="F5A05A"/>
          </a:solidFill>
          <a:ln w="12700">
            <a:solidFill>
              <a:srgbClr val="F5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3794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188720"/>
            <a:ext cx="2651760" cy="2103120"/>
          </a:xfrm>
          <a:prstGeom prst="rect">
            <a:avLst/>
          </a:prstGeom>
          <a:solidFill>
            <a:srgbClr val="29190D"/>
          </a:solidFill>
          <a:ln w="12700">
            <a:solidFill>
              <a:srgbClr val="3A25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0" y="1188720"/>
            <a:ext cx="2651760" cy="64008"/>
          </a:xfrm>
          <a:prstGeom prst="rect">
            <a:avLst/>
          </a:prstGeom>
          <a:solidFill>
            <a:srgbClr val="D4650A"/>
          </a:solidFill>
          <a:ln w="12700">
            <a:solidFill>
              <a:srgbClr val="D46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3566160"/>
            <a:ext cx="2651760" cy="2103120"/>
          </a:xfrm>
          <a:prstGeom prst="rect">
            <a:avLst/>
          </a:prstGeom>
          <a:solidFill>
            <a:srgbClr val="29190D"/>
          </a:solidFill>
          <a:ln w="12700">
            <a:solidFill>
              <a:srgbClr val="3A25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0" y="3566160"/>
            <a:ext cx="2651760" cy="64008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3794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$1,389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3544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6309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Kriday Kallalathil  · Anusha Bellavara Mallikarjuna · MSA 8200  ·  Georgia State University  ·  Spring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h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ec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01  ·  PROBLEM STATEMENT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</a:rPr>
              <a:t>What Is CLV &amp; Why Does It Matter in Insurance?</a:t>
            </a:r>
            <a:endParaRPr lang="en-US" sz="1400" dirty="0"/>
          </a:p>
        </p:txBody>
      </p:sp>
      <p:sp>
        <p:nvSpPr>
          <p:cNvPr id="5" name="sub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</a:rPr>
              <a:t>Customer Lifetime Value - total net revenue an insurer expects from a customer over their entire relationship</a:t>
            </a:r>
            <a:endParaRPr lang="en-US" sz="1400" dirty="0"/>
          </a:p>
        </p:txBody>
      </p:sp>
      <p:sp>
        <p:nvSpPr>
          <p:cNvPr id="6" name="rule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card"/>
          <p:cNvSpPr/>
          <p:nvPr/>
        </p:nvSpPr>
        <p:spPr>
          <a:xfrm>
            <a:off x="457200" y="1417320"/>
            <a:ext cx="5394960" cy="5166360"/>
          </a:xfrm>
          <a:prstGeom prst="rect">
            <a:avLst/>
          </a:prstGeom>
          <a:solidFill>
            <a:srgbClr val="FFFFFF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lcard_acc"/>
          <p:cNvSpPr/>
          <p:nvPr/>
        </p:nvSpPr>
        <p:spPr>
          <a:xfrm>
            <a:off x="457200" y="1417320"/>
            <a:ext cx="5394960" cy="55"/>
          </a:xfrm>
          <a:prstGeom prst="rect">
            <a:avLst/>
          </a:prstGeom>
          <a:solidFill>
            <a:srgbClr val="E862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h"/>
          <p:cNvSpPr/>
          <p:nvPr/>
        </p:nvSpPr>
        <p:spPr>
          <a:xfrm>
            <a:off x="640080" y="1581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</a:rPr>
              <a:t>What Is CLV?</a:t>
            </a:r>
            <a:endParaRPr lang="en-US" sz="1600" dirty="0"/>
          </a:p>
        </p:txBody>
      </p:sp>
      <p:sp>
        <p:nvSpPr>
          <p:cNvPr id="12" name="lr"/>
          <p:cNvSpPr/>
          <p:nvPr/>
        </p:nvSpPr>
        <p:spPr>
          <a:xfrm>
            <a:off x="640080" y="1901952"/>
            <a:ext cx="5029200" cy="13716"/>
          </a:xfrm>
          <a:prstGeom prst="rect">
            <a:avLst/>
          </a:prstGeom>
          <a:solidFill>
            <a:srgbClr val="E0DDD9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lbody"/>
          <p:cNvSpPr/>
          <p:nvPr/>
        </p:nvSpPr>
        <p:spPr>
          <a:xfrm>
            <a:off x="640080" y="19659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CLV = the present value of all future premiums a customer will pay, minus claims and servicing costs over the entire relationship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It is a forward-looking, per-customer metric - it answers: how much can the insurer afford to spend to win and keep this customer?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In auto insurance, CLV is driven by premium tier, number of policies held, tenure, claims history, and customer financial stability</a:t>
            </a:r>
            <a:endParaRPr lang="en-US" sz="1600" dirty="0"/>
          </a:p>
        </p:txBody>
      </p:sp>
      <p:sp>
        <p:nvSpPr>
          <p:cNvPr id="14" name="lh2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</a:rPr>
              <a:t>Why It Matters</a:t>
            </a:r>
            <a:endParaRPr lang="en-US" sz="1600" dirty="0"/>
          </a:p>
        </p:txBody>
      </p:sp>
      <p:sp>
        <p:nvSpPr>
          <p:cNvPr id="15" name="lr2"/>
          <p:cNvSpPr/>
          <p:nvPr/>
        </p:nvSpPr>
        <p:spPr>
          <a:xfrm>
            <a:off x="640080" y="4700016"/>
            <a:ext cx="5029200" cy="13716"/>
          </a:xfrm>
          <a:prstGeom prst="rect">
            <a:avLst/>
          </a:prstGeom>
          <a:solidFill>
            <a:srgbClr val="E0DDD9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lbody2"/>
          <p:cNvSpPr/>
          <p:nvPr/>
        </p:nvSpPr>
        <p:spPr>
          <a:xfrm>
            <a:off x="640080" y="477316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Acquisition spend: sets how much to offer a new customer without eroding margin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Retention targeting: identifies who to reach out to proactively before their next renewal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</a:rPr>
              <a:t>Resource allocation: sizes service teams proportionally to customer value</a:t>
            </a:r>
            <a:endParaRPr lang="en-US" sz="1600" dirty="0"/>
          </a:p>
        </p:txBody>
      </p:sp>
      <p:sp>
        <p:nvSpPr>
          <p:cNvPr id="20" name="rcard"/>
          <p:cNvSpPr/>
          <p:nvPr/>
        </p:nvSpPr>
        <p:spPr>
          <a:xfrm>
            <a:off x="6126480" y="1417320"/>
            <a:ext cx="5577840" cy="5166360"/>
          </a:xfrm>
          <a:prstGeom prst="rect">
            <a:avLst/>
          </a:prstGeom>
          <a:solidFill>
            <a:srgbClr val="FFFFFF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rcard_acc"/>
          <p:cNvSpPr/>
          <p:nvPr/>
        </p:nvSpPr>
        <p:spPr>
          <a:xfrm>
            <a:off x="6126480" y="1417320"/>
            <a:ext cx="5577840" cy="55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h"/>
          <p:cNvSpPr/>
          <p:nvPr/>
        </p:nvSpPr>
        <p:spPr>
          <a:xfrm>
            <a:off x="6309360" y="15819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</a:rPr>
              <a:t>Business Risk Without a CLV Model</a:t>
            </a:r>
            <a:endParaRPr lang="en-US" sz="1600" dirty="0"/>
          </a:p>
        </p:txBody>
      </p:sp>
      <p:sp>
        <p:nvSpPr>
          <p:cNvPr id="22" name="rr"/>
          <p:cNvSpPr/>
          <p:nvPr/>
        </p:nvSpPr>
        <p:spPr>
          <a:xfrm>
            <a:off x="6309360" y="1901952"/>
            <a:ext cx="5212080" cy="13716"/>
          </a:xfrm>
          <a:prstGeom prst="rect">
            <a:avLst/>
          </a:prstGeom>
          <a:solidFill>
            <a:srgbClr val="E0DDD9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30" name="ri_bg"/>
          <p:cNvSpPr/>
          <p:nvPr/>
        </p:nvSpPr>
        <p:spPr>
          <a:xfrm>
            <a:off x="6309360" y="2011680"/>
            <a:ext cx="5212080" cy="960120"/>
          </a:xfrm>
          <a:prstGeom prst="rect">
            <a:avLst/>
          </a:prstGeom>
          <a:solidFill>
            <a:srgbClr val="FFF0E5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ri_acc"/>
          <p:cNvSpPr/>
          <p:nvPr/>
        </p:nvSpPr>
        <p:spPr>
          <a:xfrm>
            <a:off x="6309360" y="2011680"/>
            <a:ext cx="54864" cy="9601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ri_h"/>
          <p:cNvSpPr/>
          <p:nvPr/>
        </p:nvSpPr>
        <p:spPr>
          <a:xfrm>
            <a:off x="6446520" y="2084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</a:rPr>
              <a:t>Over-investing in low-value customers</a:t>
            </a:r>
            <a:endParaRPr lang="en-US" sz="1600" dirty="0"/>
          </a:p>
        </p:txBody>
      </p:sp>
      <p:sp>
        <p:nvSpPr>
          <p:cNvPr id="33" name="ri_b"/>
          <p:cNvSpPr/>
          <p:nvPr/>
        </p:nvSpPr>
        <p:spPr>
          <a:xfrm>
            <a:off x="6446520" y="23591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Marketing budgets allocated by volume, not value - profitable spend wasted on customers who churn after their first renewal.</a:t>
            </a:r>
            <a:endParaRPr lang="en-US" sz="1600" dirty="0"/>
          </a:p>
        </p:txBody>
      </p:sp>
      <p:sp>
        <p:nvSpPr>
          <p:cNvPr id="7" name="ri_bg"/>
          <p:cNvSpPr/>
          <p:nvPr/>
        </p:nvSpPr>
        <p:spPr>
          <a:xfrm>
            <a:off x="6309360" y="3090672"/>
            <a:ext cx="5212080" cy="960120"/>
          </a:xfrm>
          <a:prstGeom prst="rect">
            <a:avLst/>
          </a:prstGeom>
          <a:solidFill>
            <a:srgbClr val="FFF0E5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ri_acc"/>
          <p:cNvSpPr/>
          <p:nvPr/>
        </p:nvSpPr>
        <p:spPr>
          <a:xfrm>
            <a:off x="6309360" y="3090672"/>
            <a:ext cx="54864" cy="9601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35" name="ri_h"/>
          <p:cNvSpPr/>
          <p:nvPr/>
        </p:nvSpPr>
        <p:spPr>
          <a:xfrm>
            <a:off x="6446520" y="31638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</a:rPr>
              <a:t>Under-investing in high-value customers</a:t>
            </a:r>
            <a:endParaRPr lang="en-US" sz="1600" dirty="0"/>
          </a:p>
        </p:txBody>
      </p:sp>
      <p:sp>
        <p:nvSpPr>
          <p:cNvPr id="36" name="ri_b"/>
          <p:cNvSpPr/>
          <p:nvPr/>
        </p:nvSpPr>
        <p:spPr>
          <a:xfrm>
            <a:off x="6446520" y="34381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The most profitable policyholders receive the same service as low-value ones, raising churn risk in the highest-margin segment.</a:t>
            </a:r>
            <a:endParaRPr lang="en-US" sz="1600" dirty="0"/>
          </a:p>
        </p:txBody>
      </p:sp>
      <p:sp>
        <p:nvSpPr>
          <p:cNvPr id="8" name="ri_bg"/>
          <p:cNvSpPr/>
          <p:nvPr/>
        </p:nvSpPr>
        <p:spPr>
          <a:xfrm>
            <a:off x="6309360" y="4169664"/>
            <a:ext cx="5212080" cy="960120"/>
          </a:xfrm>
          <a:prstGeom prst="rect">
            <a:avLst/>
          </a:prstGeom>
          <a:solidFill>
            <a:srgbClr val="FFF0E5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ri_acc"/>
          <p:cNvSpPr/>
          <p:nvPr/>
        </p:nvSpPr>
        <p:spPr>
          <a:xfrm>
            <a:off x="6309360" y="4169664"/>
            <a:ext cx="54864" cy="9601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ri_h"/>
          <p:cNvSpPr/>
          <p:nvPr/>
        </p:nvSpPr>
        <p:spPr>
          <a:xfrm>
            <a:off x="6446520" y="4242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</a:rPr>
              <a:t>Blind acquisition decisions</a:t>
            </a:r>
            <a:endParaRPr lang="en-US" sz="1600" dirty="0"/>
          </a:p>
        </p:txBody>
      </p:sp>
      <p:sp>
        <p:nvSpPr>
          <p:cNvPr id="39" name="ri_b"/>
          <p:cNvSpPr/>
          <p:nvPr/>
        </p:nvSpPr>
        <p:spPr>
          <a:xfrm>
            <a:off x="6446520" y="45171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Introductory discounts and onboarding spend set uniformly - not calibrated to each customer's predicted lifetime ROI.</a:t>
            </a:r>
            <a:endParaRPr lang="en-US" sz="1600" dirty="0"/>
          </a:p>
        </p:txBody>
      </p:sp>
      <p:sp>
        <p:nvSpPr>
          <p:cNvPr id="9" name="ri_bg"/>
          <p:cNvSpPr/>
          <p:nvPr/>
        </p:nvSpPr>
        <p:spPr>
          <a:xfrm>
            <a:off x="6309360" y="5248656"/>
            <a:ext cx="5212080" cy="960120"/>
          </a:xfrm>
          <a:prstGeom prst="rect">
            <a:avLst/>
          </a:prstGeom>
          <a:solidFill>
            <a:srgbClr val="FFF0E5"/>
          </a:solidFill>
          <a:ln w="4572">
            <a:solidFill>
              <a:srgbClr val="EEEBE7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ri_acc"/>
          <p:cNvSpPr/>
          <p:nvPr/>
        </p:nvSpPr>
        <p:spPr>
          <a:xfrm>
            <a:off x="6309360" y="5248656"/>
            <a:ext cx="54864" cy="9601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ri_h"/>
          <p:cNvSpPr/>
          <p:nvPr/>
        </p:nvSpPr>
        <p:spPr>
          <a:xfrm>
            <a:off x="6446520" y="5321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</a:rPr>
              <a:t>Reactive retention - too late</a:t>
            </a:r>
            <a:endParaRPr lang="en-US" sz="1600" dirty="0"/>
          </a:p>
        </p:txBody>
      </p:sp>
      <p:sp>
        <p:nvSpPr>
          <p:cNvPr id="42" name="ri_b"/>
          <p:cNvSpPr/>
          <p:nvPr/>
        </p:nvSpPr>
        <p:spPr>
          <a:xfrm>
            <a:off x="6446520" y="55961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Without CLV decline signals, churn interventions trigger only after the customer has already decided to leave.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DATASET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Auto Insurance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9,134 records  ·  24 raw features  ·  5 regression models evaluated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9,134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2606040" cy="45720"/>
          </a:xfrm>
          <a:prstGeom prst="rect">
            <a:avLst/>
          </a:prstGeom>
          <a:solidFill>
            <a:srgbClr val="D4650A"/>
          </a:solidFill>
          <a:ln w="12700">
            <a:solidFill>
              <a:srgbClr val="D46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606040" cy="45720"/>
          </a:xfrm>
          <a:prstGeom prst="rect">
            <a:avLst/>
          </a:prstGeom>
          <a:solidFill>
            <a:srgbClr val="5FAD41"/>
          </a:solidFill>
          <a:ln w="12700">
            <a:solidFill>
              <a:srgbClr val="5FAD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FA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46304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0" y="1463040"/>
            <a:ext cx="2606040" cy="4572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78240" y="1554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77824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OHE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5394960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Coverage, Policy Type, Monthly Premium Auto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Total Claim Amount, Open Complaints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State, Gender, Education, Employment, Income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# Policies, Sales Channel, Renew Offer Type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Customer Lifetime Value  →  log1p transformed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2971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264408"/>
            <a:ext cx="5394960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578683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range: $1,898 - $83,325  (strong right skew)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raw: 3.03  →  after log1p: 0.58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 zero income - retained as valid observations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dropped before modelling - no leakage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 -  random_state=42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EXPLORATORY DATA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Distribution - Before &amp; After Log Transform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CLV skewness = 3.03  →  log1p reduces to 0.58  -  near-normal for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user-data/uploads/07-clv-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736"/>
            <a:ext cx="8458199" cy="5303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45643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12480" y="1325880"/>
            <a:ext cx="3456432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95360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1746504"/>
            <a:ext cx="3090672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95360" y="201192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CLV: strongly skewed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2337681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3.03. Mean ($8,005) far exceeds Median ($5,780). Violates normality assumption for regression.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310210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 fixes 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3342132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drops to 0.58 — near-normal. All 5 models train on log_CLV as the target variable.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0" y="401193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Back-transform for reporting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233672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expm1() exactly inverts log1p(). Final RMSE and MAE reported in original $ for interpretability.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492175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221224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transform, extreme high-CLV outliers dominate the loss function and degrade model fit for typical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- 5 Domain-Driven Additions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(drop_first=True)  →  56 total features  ·  StandardScaler fit on training data 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" cy="87782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Premium_to_Income_Ratio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premium ÷ (Income+1). Measures financial burden. +1 guard handles zero-income customers (25.4% of dataset). Appears in top-8 feature importances.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247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64008" cy="87782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Claim_per_Policy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712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 ÷ number of policies. Normalises claim exposure across portfolio sizes. Validated by appearing in top-8 importances.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11247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64008" cy="87782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High_Complaint_Flag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8679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1 if any open complaints. Captures dissatisfaction signal beyond raw count. Simple but predictive for churn risk.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11247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64008" cy="87782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4498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Policy_Tenure_Bucket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8646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since inception binned Early / Mid / Long-term via equal-frequency quantiles (q=3). Captures non-linear tenure effects.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404104"/>
            <a:ext cx="11247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5404104"/>
            <a:ext cx="64008" cy="87782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55138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88720" y="5495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Renewal_Month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58613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extracted from Effective To Date (1–12). Captures seasonal renewal patterns and weather-related claims cycles.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categorical columns  →  OHE (drop_first=True)  →  56 total features  ·  StandardScaler fit on training data only (no leakage)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MODEL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- Training &amp; Validation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 ·  StandardScaler on training only  ·  GridSearchCV 5-fold within training 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609019"/>
              </p:ext>
            </p:extLst>
          </p:nvPr>
        </p:nvGraphicFramePr>
        <p:xfrm>
          <a:off x="457200" y="1417320"/>
          <a:ext cx="11247120" cy="3657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20252"/>
              </p:ext>
            </p:extLst>
          </p:nvPr>
        </p:nvGraphicFramePr>
        <p:xfrm>
          <a:off x="457200" y="1801368"/>
          <a:ext cx="11247120" cy="594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floor — measures non-linear uplift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03862"/>
              </p:ext>
            </p:extLst>
          </p:nvPr>
        </p:nvGraphicFramePr>
        <p:xfrm>
          <a:off x="457200" y="2459736"/>
          <a:ext cx="11247120" cy="594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single tree; prone to overfitting without pruning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40673"/>
              </p:ext>
            </p:extLst>
          </p:nvPr>
        </p:nvGraphicFramePr>
        <p:xfrm>
          <a:off x="457200" y="3118104"/>
          <a:ext cx="11247120" cy="594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6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- bagging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 via bootstrap aggregation; robust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231845"/>
              </p:ext>
            </p:extLst>
          </p:nvPr>
        </p:nvGraphicFramePr>
        <p:xfrm>
          <a:off x="457200" y="3776472"/>
          <a:ext cx="11247120" cy="594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6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B2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-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Sequentially corrects residuals; often best single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58212"/>
              </p:ext>
            </p:extLst>
          </p:nvPr>
        </p:nvGraphicFramePr>
        <p:xfrm>
          <a:off x="457200" y="4434840"/>
          <a:ext cx="11247120" cy="594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Non-parametric; sensitive to scale — requires StandardScaler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5"/>
          <p:cNvSpPr/>
          <p:nvPr/>
        </p:nvSpPr>
        <p:spPr>
          <a:xfrm>
            <a:off x="457200" y="52120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Random Forest and XGBoost highlighted — selected for GridSearchCV hyperparameter tuning in Section 6</a:t>
            </a:r>
            <a:endParaRPr lang="en-US" sz="1000" dirty="0"/>
          </a:p>
        </p:txBody>
      </p:sp>
      <p:sp>
        <p:nvSpPr>
          <p:cNvPr id="14" name="Text 6"/>
          <p:cNvSpPr/>
          <p:nvPr/>
        </p:nvSpPr>
        <p:spPr>
          <a:xfrm>
            <a:off x="457200" y="5532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80/20 split  ·  StandardScaler fit on training data only  ·  CV Pipelines refit scaler on each fold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- Test Set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wins: R² = 0.9113, RMSE = 0.1982, MAE = 0.0911 on log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user-data/uploads/20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512"/>
            <a:ext cx="8509540" cy="4233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45643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8412480" y="1325880"/>
            <a:ext cx="3456432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8595360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1746504"/>
            <a:ext cx="3090672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595360" y="195905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222422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0.9113, RMSE = 0.1982, MAE = 0.0911. Narrowly outperforms XGBoost on all three metrics.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2894587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dominate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3159763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XGBoost (R² &gt; 0.90) are dramatically better than KNN (0.22) and Linear Regression (0.43).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0" y="3874823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model: R² = 0.43 only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129027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 non-linear models confirms CLV has complex structure that linear regression cannot capture.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485363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top models tuned next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108187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XGBoost selected for GridSearchCV tuning in Section 6 to extract maximum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MODEL OPTIMISATION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 - Tuned Random Forest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grid search within training set only; test set reserved for final evaluation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778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6400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-  60 fits (12 combos × 5-fold)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Parameters: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22576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[100, 200]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[None, 10, 20]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[2, 5]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max_depth=None, split=5, n=200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75888"/>
            <a:ext cx="5212080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67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(train): 0.8901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330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RMSE:  0.1983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498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R²:  0.9112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57784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577840" cy="6400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1572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90 fits (18 combos × 5-fold)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0482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Parameters: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322576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[100, 200]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[3, 5, 7]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[0.05, 0.1, 0.2]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337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lr=0.1, max_depth=5, n=200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675888"/>
            <a:ext cx="5212080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3767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(train): 0.8856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1330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RMSE:  0.2007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498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R²:  0.9097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FFF0E5"/>
          </a:solidFill>
          <a:ln w="6350">
            <a:solidFill>
              <a:srgbClr val="F5C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Tuned Random Forest  -  Test R² = 0.9112  -  RMSE (log) = 0.1983  -  MAE ($) = $1,389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INTERPRETATION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Feature Importances - Tuned Random Forest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Policies dominates at 0.6786 — accounts for 68% of all predictive power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726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user-data/uploads/27-feature-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35608"/>
            <a:ext cx="7507224" cy="5084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45643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8412480" y="1325880"/>
            <a:ext cx="3456432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8595360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1746504"/>
            <a:ext cx="3090672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595360" y="1852065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Policies = 0.6786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213925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68% of all predictive power. Multi-policy customers have structurally higher CLV and lower churn.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2833019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Premium = 0.2293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3111159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important. Together policies + premium explain ~91% of all predictive signal in the model.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0" y="3808071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validated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086211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Premium_to_Income_Ratio and Claim_per_Policy appear in top 8. Domain engineering added real signal.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483821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11253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campaigns (adding a second policy) are the highest-ROI retention lever an insurer can pull.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INTERPRETATION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CLV - Original Dollar Scale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 —  R² = 0.6836 on dollar scale after back-transformation via expm1()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726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user-data/uploads/30-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35608"/>
            <a:ext cx="7507224" cy="5084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45643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8412480" y="1325880"/>
            <a:ext cx="3456432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8595360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1746504"/>
            <a:ext cx="3090672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580120" y="189857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0.6836 on dollar scale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72500" y="2232965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log-scale R² (0.91) because back-transformation amplifies errors on extreme high-CLV outliers.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72500" y="294894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Low/Mid CLV: tight cluster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80120" y="3186510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closely around the y=x perfect prediction line for customers under $20,000 CLV.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72500" y="388162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CLV: systematically low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80120" y="4161157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above $30,000 are underestimated. Sparse in training data causes regression toward the mean.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493776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over-prediction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18464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inflate predictions - critical for CRM budget allocation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INTERPRETATION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Accuracy - Low / Mid / High CLV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at 33rd/66th percentiles  ·  within 20% error = |predicted − actual| / actual ≤ 0.20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726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user-data/uploads/32-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35608"/>
            <a:ext cx="7507224" cy="5084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45643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8412480" y="1325880"/>
            <a:ext cx="3456432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8595360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1746504"/>
            <a:ext cx="3090672" cy="10973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595360" y="203454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CLV: 99.8% accuracy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2393442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actual $3,139. Near-perfect - customers are homogeneous. Low-touch automated service is appropriate.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313639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CLV: 92.4% accuracy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3369333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actual $5,862. Strong accuracy makes this the best target for cross-sell campaigns.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95360" y="405307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CLV: 56.7% accuracy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405122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actual $14,600. Lower accuracy due to sparse extremes. Use as directional signal, not precise estimate.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519379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highly actionable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397391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56.7%, the model identifies High-CLV customers far better than random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BUSINESS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&amp;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Drives CLV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Premium Auto is the #2 predictor. Pricing teams should design tiered products to attract high-premium customers - lifetime revenue quickly recoups the upfront acquisition incentive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64008" cy="15087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594360" y="3218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3200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Multi-Policy = Retention Moat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661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cross-sell event can shift a customer from Mid to High CLV tier. The model identifies which customers have the right profile, making campaigns directly ROI-measurable.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64008" cy="15087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594360" y="4910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is a Long-Term Investment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2578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correlates with CLV tier. Channels attracting High-CLV customers justify higher per-acquisition spend - lifetime ROI must guide budget allocation, not short-term CPA.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64008" cy="15087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6446520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95160" y="15087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Service Strategy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1874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CLV → automated self-service. Mid CLV → targeted email campaigns. High CLV → dedicated agent outreach. Model enables cost-proportional service allocation.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10896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7" name="Shape 25"/>
          <p:cNvSpPr/>
          <p:nvPr/>
        </p:nvSpPr>
        <p:spPr>
          <a:xfrm>
            <a:off x="6309360" y="3108960"/>
            <a:ext cx="64008" cy="15087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6446520" y="3218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95160" y="3200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CRM Scoring Engine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35661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model quarterly on the full active customer book. Customers whose predicted CLV has declined are flagged as churn risks — triggering proactive interventions before renewal.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Final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1247120" cy="13716"/>
          </a:xfrm>
          <a:prstGeom prst="rect">
            <a:avLst/>
          </a:prstGeom>
          <a:solidFill>
            <a:srgbClr val="E0DDD9"/>
          </a:solidFill>
          <a:ln w="1270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21208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212080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160239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on 9,134 auto insurance records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engineered domain features (OHE → 56 total features)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models: Linear Reg., Decision Tree, RF, XGBoost, KNN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Pipeline scaling - zero CV data leakage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tuning: RF (60 fits) + XGBoost (90 fits)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 - Low / Mid / High CLV tiers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- top driver: Number of Policies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as real-time CRM scoring engine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1417320"/>
            <a:ext cx="576072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BE7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760720" cy="54864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- Tuned Random Forest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2560320" cy="1920240"/>
          </a:xfrm>
          <a:prstGeom prst="rect">
            <a:avLst/>
          </a:prstGeom>
          <a:solidFill>
            <a:srgbClr val="F7F5F2"/>
          </a:solidFill>
          <a:ln w="635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560320" cy="45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-  LOG SCALE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69680" y="1965960"/>
            <a:ext cx="2560320" cy="1920240"/>
          </a:xfrm>
          <a:prstGeom prst="rect">
            <a:avLst/>
          </a:prstGeom>
          <a:solidFill>
            <a:srgbClr val="F7F5F2"/>
          </a:solidFill>
          <a:ln w="635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69680" y="1965960"/>
            <a:ext cx="2560320" cy="45720"/>
          </a:xfrm>
          <a:prstGeom prst="rect">
            <a:avLst/>
          </a:prstGeom>
          <a:solidFill>
            <a:srgbClr val="D4650A"/>
          </a:solidFill>
          <a:ln w="12700">
            <a:solidFill>
              <a:srgbClr val="D46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0.6836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9611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-  DOLLAR SCALE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6112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expm1() back-transform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4160520"/>
            <a:ext cx="2560320" cy="1920240"/>
          </a:xfrm>
          <a:prstGeom prst="rect">
            <a:avLst/>
          </a:prstGeom>
          <a:solidFill>
            <a:srgbClr val="F7F5F2"/>
          </a:solidFill>
          <a:ln w="635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4160520"/>
            <a:ext cx="2560320" cy="45720"/>
          </a:xfrm>
          <a:prstGeom prst="rect">
            <a:avLst/>
          </a:prstGeom>
          <a:solidFill>
            <a:srgbClr val="AA4400"/>
          </a:solidFill>
          <a:ln w="12700">
            <a:solidFill>
              <a:srgbClr val="AA4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$4,038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1792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-  DOLLAR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5577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4160520"/>
            <a:ext cx="2560320" cy="1920240"/>
          </a:xfrm>
          <a:prstGeom prst="rect">
            <a:avLst/>
          </a:prstGeom>
          <a:solidFill>
            <a:srgbClr val="F7F5F2"/>
          </a:solidFill>
          <a:ln w="6350">
            <a:solidFill>
              <a:srgbClr val="E0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69680" y="4160520"/>
            <a:ext cx="2560320" cy="4572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$1,389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96112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-  DOLLAR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61120" y="5577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reduced CLV skewness 3.03 → 0.58  ·  Pipeline scaling prevented all data leakage  ·  Deployable as real-time CRM scoring engine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2481</Words>
  <Application>Microsoft Macintosh PowerPoint</Application>
  <PresentationFormat>Widescreen</PresentationFormat>
  <Paragraphs>251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CLV Prediction</dc:title>
  <dc:subject>PptxGenJS Presentation</dc:subject>
  <dc:creator>PptxGenJS</dc:creator>
  <cp:lastModifiedBy>Kriday Kallalathil</cp:lastModifiedBy>
  <cp:revision>2</cp:revision>
  <dcterms:created xsi:type="dcterms:W3CDTF">2026-04-28T01:03:26Z</dcterms:created>
  <dcterms:modified xsi:type="dcterms:W3CDTF">2026-04-28T18:43:21Z</dcterms:modified>
</cp:coreProperties>
</file>